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26374A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91A1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GATHERBENCH  /  EVENT INTELLIGENCE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652881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80" kern="0" dirty="0">
                <a:solidFill>
                  <a:srgbClr val="91A1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• ILLUSTRATIVE EXAMPLES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03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GATHERBENCH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attendee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into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675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survey insights and benchmarking for better events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5257800" cy="548640"/>
          </a:xfrm>
          <a:prstGeom prst="roundRect">
            <a:avLst>
              <a:gd name="adj" fmla="val 23333"/>
            </a:avLst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4754880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5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SUMMARIES  •  EVENT BENCHMARKING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6235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concept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58200" y="713232"/>
            <a:ext cx="2148840" cy="2148840"/>
          </a:xfrm>
          <a:prstGeom prst="ellipse">
            <a:avLst/>
          </a:prstGeom>
          <a:solidFill>
            <a:srgbClr val="102239"/>
          </a:solidFill>
          <a:ln w="12700">
            <a:solidFill>
              <a:srgbClr val="14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1143000"/>
            <a:ext cx="1298448" cy="1298448"/>
          </a:xfrm>
          <a:prstGeom prst="ellipse">
            <a:avLst/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8352" y="2852928"/>
            <a:ext cx="3703320" cy="1444752"/>
          </a:xfrm>
          <a:prstGeom prst="roundRect">
            <a:avLst>
              <a:gd name="adj" fmla="val 8861"/>
            </a:avLst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1272" y="2514600"/>
            <a:ext cx="2697480" cy="566928"/>
          </a:xfrm>
          <a:prstGeom prst="roundRect">
            <a:avLst>
              <a:gd name="adj" fmla="val 22581"/>
            </a:avLst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2642616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140" kern="0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514600"/>
            <a:ext cx="-594360" cy="-1280160"/>
          </a:xfrm>
          <a:prstGeom prst="line">
            <a:avLst/>
          </a:prstGeom>
          <a:noFill/>
          <a:ln w="19050">
            <a:solidFill>
              <a:srgbClr val="57D4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51008" y="2514600"/>
            <a:ext cx="758952" cy="-1280160"/>
          </a:xfrm>
          <a:prstGeom prst="line">
            <a:avLst/>
          </a:prstGeom>
          <a:noFill/>
          <a:ln w="19050">
            <a:solidFill>
              <a:srgbClr val="7FA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77892" y="3730752"/>
            <a:ext cx="111191" cy="111191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2297" y="3856573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092" y="3840480"/>
            <a:ext cx="111191" cy="111191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79497" y="3966301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2292" y="3730752"/>
            <a:ext cx="111191" cy="111191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6697" y="3856573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9492" y="3840480"/>
            <a:ext cx="111191" cy="111191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3897" y="3966301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6692" y="3730752"/>
            <a:ext cx="111191" cy="111191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1097" y="3856573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63892" y="3840480"/>
            <a:ext cx="111191" cy="111191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8297" y="3966301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21092" y="3730752"/>
            <a:ext cx="111191" cy="111191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65497" y="3856573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78292" y="3840480"/>
            <a:ext cx="111191" cy="111191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2697" y="3966301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35492" y="3730752"/>
            <a:ext cx="111191" cy="111191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79897" y="3856573"/>
            <a:ext cx="222382" cy="204826"/>
          </a:xfrm>
          <a:prstGeom prst="roundRect">
            <a:avLst>
              <a:gd name="adj" fmla="val 80357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40762" y="4251960"/>
            <a:ext cx="118140" cy="118140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1692" y="4385645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1114" y="4370832"/>
            <a:ext cx="118140" cy="118140"/>
          </a:xfrm>
          <a:prstGeom prst="ellipse">
            <a:avLst/>
          </a:prstGeom>
          <a:solidFill>
            <a:srgbClr val="EE91B7"/>
          </a:solidFill>
          <a:ln w="12700">
            <a:solidFill>
              <a:srgbClr val="EE91B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2044" y="4504517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EE91B7"/>
          </a:solidFill>
          <a:ln w="12700">
            <a:solidFill>
              <a:srgbClr val="EE91B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01466" y="4251960"/>
            <a:ext cx="118140" cy="118140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42396" y="4385645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31818" y="4370832"/>
            <a:ext cx="118140" cy="118140"/>
          </a:xfrm>
          <a:prstGeom prst="ellipse">
            <a:avLst/>
          </a:prstGeom>
          <a:solidFill>
            <a:srgbClr val="EE91B7"/>
          </a:solidFill>
          <a:ln w="12700">
            <a:solidFill>
              <a:srgbClr val="EE91B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72748" y="4504517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EE91B7"/>
          </a:solidFill>
          <a:ln w="12700">
            <a:solidFill>
              <a:srgbClr val="EE91B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62170" y="4251960"/>
            <a:ext cx="118140" cy="118140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03100" y="4385645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92522" y="4370832"/>
            <a:ext cx="118140" cy="118140"/>
          </a:xfrm>
          <a:prstGeom prst="ellipse">
            <a:avLst/>
          </a:prstGeom>
          <a:solidFill>
            <a:srgbClr val="EE91B7"/>
          </a:solidFill>
          <a:ln w="12700">
            <a:solidFill>
              <a:srgbClr val="EE91B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33452" y="4504517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EE91B7"/>
          </a:solidFill>
          <a:ln w="12700">
            <a:solidFill>
              <a:srgbClr val="EE91B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2874" y="4251960"/>
            <a:ext cx="118140" cy="118140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63804" y="4385645"/>
            <a:ext cx="236281" cy="217627"/>
          </a:xfrm>
          <a:prstGeom prst="roundRect">
            <a:avLst>
              <a:gd name="adj" fmla="val 75630"/>
            </a:avLst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5093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event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77072" y="5202936"/>
            <a:ext cx="1170432" cy="0"/>
          </a:xfrm>
          <a:prstGeom prst="line">
            <a:avLst/>
          </a:prstGeom>
          <a:noFill/>
          <a:ln w="16510">
            <a:solidFill>
              <a:srgbClr val="2940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19488" y="5093208"/>
            <a:ext cx="228600" cy="228600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21240" y="5093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peer group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Hundreds of responses. Where do you start?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harder part is finding recurring problems and the comments that matter.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572000" cy="3749040"/>
          </a:xfrm>
          <a:prstGeom prst="roundRect">
            <a:avLst>
              <a:gd name="adj" fmla="val 3415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FEEDBACK PILE GROWS FAST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2404872" y="28895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3749040"/>
            <a:ext cx="3840480" cy="0"/>
          </a:xfrm>
          <a:prstGeom prst="line">
            <a:avLst/>
          </a:prstGeom>
          <a:noFill/>
          <a:ln w="12700">
            <a:solidFill>
              <a:srgbClr val="294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050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100s–1,000s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27832" y="40416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conference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attendees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965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Open-text answers are slow to read and harder to compare.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68112" y="2011680"/>
            <a:ext cx="6080760" cy="3749040"/>
          </a:xfrm>
          <a:prstGeom prst="roundRect">
            <a:avLst>
              <a:gd name="adj" fmla="val 3415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240487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challenge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25312" y="2898648"/>
            <a:ext cx="292608" cy="292608"/>
          </a:xfrm>
          <a:prstGeom prst="ellipse">
            <a:avLst/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98094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every response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255264"/>
            <a:ext cx="4526280" cy="0"/>
          </a:xfrm>
          <a:prstGeom prst="line">
            <a:avLst/>
          </a:prstGeom>
          <a:noFill/>
          <a:ln w="10160">
            <a:solidFill>
              <a:srgbClr val="2940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5312" y="3465576"/>
            <a:ext cx="292608" cy="292608"/>
          </a:xfrm>
          <a:prstGeom prst="ellipse">
            <a:avLst/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54787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repeated themes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822192"/>
            <a:ext cx="4526280" cy="0"/>
          </a:xfrm>
          <a:prstGeom prst="line">
            <a:avLst/>
          </a:prstGeom>
          <a:noFill/>
          <a:ln w="10160">
            <a:solidFill>
              <a:srgbClr val="2940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5312" y="4032504"/>
            <a:ext cx="292608" cy="292608"/>
          </a:xfrm>
          <a:prstGeom prst="ellipse">
            <a:avLst/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1148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00800" y="3995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signal from noise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4389120"/>
            <a:ext cx="4526280" cy="0"/>
          </a:xfrm>
          <a:prstGeom prst="line">
            <a:avLst/>
          </a:prstGeom>
          <a:noFill/>
          <a:ln w="10160">
            <a:solidFill>
              <a:srgbClr val="2940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4599432"/>
            <a:ext cx="292608" cy="292608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68172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0" y="4562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which comments matter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59253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feedback analysis can improve the next event for everyone.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click turns feedback into clear themes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Summaries surface the patterns; linked comments keep the evidence in 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3337560" cy="1965960"/>
          </a:xfrm>
          <a:prstGeom prst="roundRect">
            <a:avLst>
              <a:gd name="adj" fmla="val 6512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50008"/>
            <a:ext cx="493776" cy="493776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4871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23544" y="30175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survey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3544" y="344728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in attendee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open-text responses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25696" y="2084832"/>
            <a:ext cx="3337560" cy="1965960"/>
          </a:xfrm>
          <a:prstGeom prst="roundRect">
            <a:avLst>
              <a:gd name="adj" fmla="val 6512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350008"/>
            <a:ext cx="493776" cy="493776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4871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0872" y="30175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finds themes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0872" y="344728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recurring praise,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criticism, and problems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2084832"/>
            <a:ext cx="3337560" cy="1965960"/>
          </a:xfrm>
          <a:prstGeom prst="roundRect">
            <a:avLst>
              <a:gd name="adj" fmla="val 6512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2350008"/>
            <a:ext cx="493776" cy="493776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4871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1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58200" y="30175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evidence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8200" y="344728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attendee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 behind a finding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443984"/>
            <a:ext cx="10872216" cy="1252728"/>
          </a:xfrm>
          <a:prstGeom prst="roundRect">
            <a:avLst>
              <a:gd name="adj" fmla="val 10219"/>
            </a:avLst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6817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NICHE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" y="5010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and educational conferences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9808" y="59161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a niche first to make comparisons between similar events more meaningful.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EVENT BENCHMARKING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score means more with a point of comparison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categories make feedback comparable—even when surveys ask questions differently.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2148840"/>
            <a:ext cx="4114800" cy="3182112"/>
          </a:xfrm>
          <a:prstGeom prst="roundRect">
            <a:avLst>
              <a:gd name="adj" fmla="val 4023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505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697480" y="3401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9848" y="4023360"/>
            <a:ext cx="3465576" cy="0"/>
          </a:xfrm>
          <a:prstGeom prst="line">
            <a:avLst/>
          </a:prstGeom>
          <a:noFill/>
          <a:ln w="12700">
            <a:solidFill>
              <a:srgbClr val="294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4343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3.8 good or bad?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9848" y="4818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relevant peer average, the score has little context.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21808" y="2148840"/>
            <a:ext cx="6126480" cy="3182112"/>
          </a:xfrm>
          <a:prstGeom prst="roundRect">
            <a:avLst>
              <a:gd name="adj" fmla="val 4023"/>
            </a:avLst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24688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SHARED FEEDBACK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962656"/>
            <a:ext cx="228600" cy="228600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9077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3584448"/>
            <a:ext cx="228600" cy="228600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352958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Informativeness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4206240"/>
            <a:ext cx="228600" cy="228600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415137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283464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8458200" y="37764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categories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096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including the examples shown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48006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differently worded surveys to a shared framework.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532120"/>
            <a:ext cx="10424160" cy="457200"/>
          </a:xfrm>
          <a:prstGeom prst="roundRect">
            <a:avLst>
              <a:gd name="adj" fmla="val 28000"/>
            </a:avLst>
          </a:prstGeom>
          <a:solidFill>
            <a:srgbClr val="183149"/>
          </a:solidFill>
          <a:ln w="12700">
            <a:solidFill>
              <a:srgbClr val="1831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6692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65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ANONYMOUS, AGGREGATED STATISTICS  •  COMPARABLE EVENTS  •  PRIVACY SAFEGUARDS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survey responses to comparable insights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 the demo video and narrate the product 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7512" y="1901952"/>
            <a:ext cx="10881360" cy="4151376"/>
          </a:xfrm>
          <a:prstGeom prst="roundRect">
            <a:avLst>
              <a:gd name="adj" fmla="val 3524"/>
            </a:avLst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901952"/>
            <a:ext cx="2057400" cy="4151376"/>
          </a:xfrm>
          <a:prstGeom prst="roundRect">
            <a:avLst>
              <a:gd name="adj" fmla="val 7111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87752" y="1901952"/>
            <a:ext cx="146304" cy="4151376"/>
          </a:xfrm>
          <a:prstGeom prst="rect">
            <a:avLst/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gatherbench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27432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718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59536" y="3054096"/>
            <a:ext cx="1700784" cy="329184"/>
          </a:xfrm>
          <a:prstGeom prst="roundRect">
            <a:avLst>
              <a:gd name="adj" fmla="val 38889"/>
            </a:avLst>
          </a:prstGeom>
          <a:solidFill>
            <a:srgbClr val="233951"/>
          </a:solidFill>
          <a:ln w="12700">
            <a:solidFill>
              <a:srgbClr val="23395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3154680"/>
            <a:ext cx="100584" cy="100584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9981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87552" y="3602736"/>
            <a:ext cx="100584" cy="100584"/>
          </a:xfrm>
          <a:prstGeom prst="ellipse">
            <a:avLst/>
          </a:prstGeom>
          <a:solidFill>
            <a:srgbClr val="71849A"/>
          </a:solidFill>
          <a:ln w="12700">
            <a:solidFill>
              <a:srgbClr val="7184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547872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D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4050792"/>
            <a:ext cx="100584" cy="100584"/>
          </a:xfrm>
          <a:prstGeom prst="ellipse">
            <a:avLst/>
          </a:prstGeom>
          <a:solidFill>
            <a:srgbClr val="71849A"/>
          </a:solidFill>
          <a:ln w="12700">
            <a:solidFill>
              <a:srgbClr val="7184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995928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D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7552" y="4498848"/>
            <a:ext cx="100584" cy="100584"/>
          </a:xfrm>
          <a:prstGeom prst="ellipse">
            <a:avLst/>
          </a:prstGeom>
          <a:solidFill>
            <a:srgbClr val="71849A"/>
          </a:solidFill>
          <a:ln w="12700">
            <a:solidFill>
              <a:srgbClr val="71849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443984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D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44368" y="2148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4E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SURVEYS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44368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feedback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37776" y="2331720"/>
            <a:ext cx="1490472" cy="320040"/>
          </a:xfrm>
          <a:prstGeom prst="roundRect">
            <a:avLst>
              <a:gd name="adj" fmla="val 28571"/>
            </a:avLst>
          </a:prstGeom>
          <a:solidFill>
            <a:srgbClr val="DDF4A5"/>
          </a:solidFill>
          <a:ln w="12700">
            <a:solidFill>
              <a:srgbClr val="DDF4A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24140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＋ New survey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44368" y="2816352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296265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3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Post-event survey  •  50 responses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72600" y="2907792"/>
            <a:ext cx="1499616" cy="301752"/>
          </a:xfrm>
          <a:prstGeom prst="roundRect">
            <a:avLst>
              <a:gd name="adj" fmla="val 30303"/>
            </a:avLst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73184" y="299008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responses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944368" y="35478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4E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44368" y="3803904"/>
            <a:ext cx="3867912" cy="1435608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3824" y="39776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408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PRAISE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163824" y="425196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“Great mentors and a welcoming atmosphere.”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63824" y="481888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18 supporting comments →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40880" y="3803904"/>
            <a:ext cx="4087368" cy="1435608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9776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B97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ISSUE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60336" y="42519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33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judging criteria could be clearer.”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0336" y="481888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9 supporting comments →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44368" y="54132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4E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PREVIEW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15000" y="541324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96C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category ratings with similar events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44368" y="570585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interface and sample comments.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Freemium: free essentials, Premium benchmarks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free to bring organizers in and build the shared base of comparable results.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2084832"/>
            <a:ext cx="5193792" cy="3246120"/>
          </a:xfrm>
          <a:prstGeom prst="roundRect">
            <a:avLst>
              <a:gd name="adj" fmla="val 3944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54496" y="2084832"/>
            <a:ext cx="5193792" cy="3246120"/>
          </a:xfrm>
          <a:prstGeom prst="roundRect">
            <a:avLst>
              <a:gd name="adj" fmla="val 3944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432304"/>
            <a:ext cx="493776" cy="493776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9928" y="246888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" y="31272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started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60704" y="36393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launch: free access to attract organizers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0704" y="4160520"/>
            <a:ext cx="4443984" cy="0"/>
          </a:xfrm>
          <a:prstGeom prst="line">
            <a:avLst/>
          </a:prstGeom>
          <a:noFill/>
          <a:ln w="12700">
            <a:solidFill>
              <a:srgbClr val="2940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4407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surveys • basic AI summaries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" y="48280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comparable-results 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432304"/>
            <a:ext cx="493776" cy="493776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5420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0336" y="246888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1272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insights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01968" y="36393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subscription for deeper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01968" y="4160520"/>
            <a:ext cx="4443984" cy="0"/>
          </a:xfrm>
          <a:prstGeom prst="line">
            <a:avLst/>
          </a:prstGeom>
          <a:noFill/>
          <a:ln w="12700">
            <a:solidFill>
              <a:srgbClr val="294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4407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benchmarking • advanced statistics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48280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from insight, not data resale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5513832"/>
            <a:ext cx="10561320" cy="493776"/>
          </a:xfrm>
          <a:prstGeom prst="roundRect">
            <a:avLst>
              <a:gd name="adj" fmla="val 25926"/>
            </a:avLst>
          </a:prstGeom>
          <a:solidFill>
            <a:srgbClr val="19334C"/>
          </a:solidFill>
          <a:ln w="12700">
            <a:solidFill>
              <a:srgbClr val="19334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650992"/>
            <a:ext cx="10149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ENTRY BUILDS ADOPTION AND THE SHARED DATASET • PREMIUM UNLOCKS COMPARATIVE VALUE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web platform powered by Gemma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 analyzes natural-language comments and helps reveal themes across differently worded responses.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3182112" cy="1280160"/>
          </a:xfrm>
          <a:prstGeom prst="roundRect">
            <a:avLst>
              <a:gd name="adj" fmla="val 10000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724912"/>
            <a:ext cx="310896" cy="310896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68833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 responses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30906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Open-text feedback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05072" y="3099816"/>
            <a:ext cx="356616" cy="0"/>
          </a:xfrm>
          <a:prstGeom prst="line">
            <a:avLst/>
          </a:prstGeom>
          <a:noFill/>
          <a:ln w="19050">
            <a:solidFill>
              <a:srgbClr val="7184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3026664"/>
            <a:ext cx="146304" cy="146304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468880"/>
            <a:ext cx="3182112" cy="1280160"/>
          </a:xfrm>
          <a:prstGeom prst="roundRect">
            <a:avLst>
              <a:gd name="adj" fmla="val 10000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724912"/>
            <a:ext cx="310896" cy="310896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268833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 AI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93792" y="30906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08392" y="3099816"/>
            <a:ext cx="356616" cy="0"/>
          </a:xfrm>
          <a:prstGeom prst="line">
            <a:avLst/>
          </a:prstGeom>
          <a:noFill/>
          <a:ln w="19050">
            <a:solidFill>
              <a:srgbClr val="7184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3026664"/>
            <a:ext cx="146304" cy="146304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468880"/>
            <a:ext cx="3182112" cy="1280160"/>
          </a:xfrm>
          <a:prstGeom prst="roundRect">
            <a:avLst>
              <a:gd name="adj" fmla="val 10000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724912"/>
            <a:ext cx="310896" cy="310896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268833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 report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97112" y="30906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Praise • problems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6629400" cy="1207008"/>
          </a:xfrm>
          <a:prstGeom prst="roundRect">
            <a:avLst>
              <a:gd name="adj" fmla="val 10606"/>
            </a:avLst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4897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interface for creating surveys and collecting responses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86460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database for persistent storage of results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08392" y="4251960"/>
            <a:ext cx="3639312" cy="1207008"/>
          </a:xfrm>
          <a:prstGeom prst="roundRect">
            <a:avLst>
              <a:gd name="adj" fmla="val 10606"/>
            </a:avLst>
          </a:prstGeom>
          <a:solidFill>
            <a:srgbClr val="19334C"/>
          </a:solidFill>
          <a:ln w="12700">
            <a:solidFill>
              <a:srgbClr val="19334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48970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FB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CHALLENGE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81888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irrelevant, nonsensical, or unconstructive responses.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576986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status and model capabilities should be described accurately for the live demo.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VISION &amp;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event better than the last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unstructured feedback into clear, comparable information that organizers can act 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2331720"/>
            <a:ext cx="3246120" cy="2148840"/>
          </a:xfrm>
          <a:prstGeom prst="roundRect">
            <a:avLst>
              <a:gd name="adj" fmla="val 5957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15184"/>
            <a:ext cx="393192" cy="393192"/>
          </a:xfrm>
          <a:prstGeom prst="ellipse">
            <a:avLst/>
          </a:prstGeom>
          <a:solidFill>
            <a:srgbClr val="57D4D0"/>
          </a:solidFill>
          <a:ln w="12700">
            <a:solidFill>
              <a:srgbClr val="57D4D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27432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event types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730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to new kinds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events as the user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2148840"/>
          </a:xfrm>
          <a:prstGeom prst="roundRect">
            <a:avLst>
              <a:gd name="adj" fmla="val 5957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2615184"/>
            <a:ext cx="393192" cy="393192"/>
          </a:xfrm>
          <a:prstGeom prst="ellipse">
            <a:avLst/>
          </a:prstGeom>
          <a:solidFill>
            <a:srgbClr val="C4F463"/>
          </a:solidFill>
          <a:ln w="12700">
            <a:solidFill>
              <a:srgbClr val="C4F46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27432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90872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comparisons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0872" y="3730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categories and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advanced analysis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19872" y="2331720"/>
            <a:ext cx="3246120" cy="2148840"/>
          </a:xfrm>
          <a:prstGeom prst="roundRect">
            <a:avLst>
              <a:gd name="adj" fmla="val 5957"/>
            </a:avLst>
          </a:prstGeom>
          <a:solidFill>
            <a:srgbClr val="102239"/>
          </a:solidFill>
          <a:ln w="12700">
            <a:solidFill>
              <a:srgbClr val="10223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2615184"/>
            <a:ext cx="393192" cy="393192"/>
          </a:xfrm>
          <a:prstGeom prst="ellipse">
            <a:avLst/>
          </a:prstGeom>
          <a:solidFill>
            <a:srgbClr val="7FAEFF"/>
          </a:solidFill>
          <a:ln w="12700">
            <a:solidFill>
              <a:srgbClr val="7FAE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27432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75904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surveys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5904" y="3730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AI follow-up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for more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feedback.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4892040"/>
            <a:ext cx="10698480" cy="914400"/>
          </a:xfrm>
          <a:prstGeom prst="roundRect">
            <a:avLst>
              <a:gd name="adj" fmla="val 14000"/>
            </a:avLst>
          </a:prstGeom>
          <a:solidFill>
            <a:srgbClr val="142A43"/>
          </a:solidFill>
          <a:ln w="12700">
            <a:solidFill>
              <a:srgbClr val="142A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15721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4F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GOAL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5084064"/>
            <a:ext cx="8458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organizers understand feedback, compare fairly, and create better events.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600760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7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GatherBench  •  Turn feedback into better events.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4F4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GatherBench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GatherBench — Event benchmark intelligence</dc:title>
  <dc:subject>Privacy-preserving event benchmarking concept</dc:subject>
  <dc:creator>GatherBench</dc:creator>
  <cp:lastModifiedBy>GatherBench</cp:lastModifiedBy>
  <cp:revision>1</cp:revision>
  <dcterms:created xsi:type="dcterms:W3CDTF">2026-10-11T01:20:19Z</dcterms:created>
  <dcterms:modified xsi:type="dcterms:W3CDTF">2026-10-11T01:20:19Z</dcterms:modified>
</cp:coreProperties>
</file>